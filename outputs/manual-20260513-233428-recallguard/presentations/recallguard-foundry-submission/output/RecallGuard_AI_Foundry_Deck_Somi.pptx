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cfe28cfd4242d4" /><Relationship Type="http://schemas.openxmlformats.org/officeDocument/2006/relationships/extended-properties" Target="/docProps/app.xml" Id="R1bd548ba83354be2" /><Relationship Type="http://schemas.openxmlformats.org/officeDocument/2006/relationships/officeDocument" Target="/ppt/presentation.xml" Id="Rc9513e8318bd4a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05449faefb48d7"/>
  </p:sldMasterIdLst>
  <p:notesMasterIdLst>
    <p:notesMasterId xmlns:r="http://schemas.openxmlformats.org/officeDocument/2006/relationships" r:id="R52e0426eb6424558"/>
  </p:notesMasterIdLst>
  <p:sldIdLst>
    <p:sldId xmlns:r="http://schemas.openxmlformats.org/officeDocument/2006/relationships" id="256" r:id="R35a53c26baba4e6b"/>
    <p:sldId xmlns:r="http://schemas.openxmlformats.org/officeDocument/2006/relationships" id="257" r:id="R4a252f1e3a2a424e"/>
    <p:sldId xmlns:r="http://schemas.openxmlformats.org/officeDocument/2006/relationships" id="258" r:id="R4ac87055c6704646"/>
    <p:sldId xmlns:r="http://schemas.openxmlformats.org/officeDocument/2006/relationships" id="259" r:id="R41dabca5fc7841ac"/>
    <p:sldId xmlns:r="http://schemas.openxmlformats.org/officeDocument/2006/relationships" id="260" r:id="Raea9fa88cfa646d6"/>
    <p:sldId xmlns:r="http://schemas.openxmlformats.org/officeDocument/2006/relationships" id="261" r:id="R2b8b75181908411f"/>
    <p:sldId xmlns:r="http://schemas.openxmlformats.org/officeDocument/2006/relationships" id="262" r:id="R8f2cbc90c0284374"/>
    <p:sldId xmlns:r="http://schemas.openxmlformats.org/officeDocument/2006/relationships" id="263" r:id="R2aca7497906f44aa"/>
    <p:sldId xmlns:r="http://schemas.openxmlformats.org/officeDocument/2006/relationships" id="264" r:id="R27203207a54d4921"/>
    <p:sldId xmlns:r="http://schemas.openxmlformats.org/officeDocument/2006/relationships" id="265" r:id="Re049d01809354de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05449faefb48d7" /><Relationship Type="http://schemas.openxmlformats.org/officeDocument/2006/relationships/theme" Target="/ppt/theme/theme1.xml" Id="R086c5e87b8b94fc7" /><Relationship Type="http://schemas.openxmlformats.org/officeDocument/2006/relationships/notesMaster" Target="/ppt/notesMasters/notesMaster1.xml" Id="R52e0426eb6424558" /><Relationship Type="http://schemas.openxmlformats.org/officeDocument/2006/relationships/presProps" Target="/ppt/presProps.xml" Id="R87ab7f134df4469f" /><Relationship Type="http://schemas.openxmlformats.org/officeDocument/2006/relationships/viewProps" Target="/ppt/viewProps.xml" Id="R6b7db56e2aff4883" /><Relationship Type="http://schemas.openxmlformats.org/officeDocument/2006/relationships/tableStyles" Target="/ppt/tableStyles.xml" Id="R4f853bf863b34377" /><Relationship Type="http://schemas.openxmlformats.org/officeDocument/2006/relationships/slide" Target="/ppt/slides/slide1.xml" Id="R35a53c26baba4e6b" /><Relationship Type="http://schemas.openxmlformats.org/officeDocument/2006/relationships/slide" Target="/ppt/slides/slide2.xml" Id="R4a252f1e3a2a424e" /><Relationship Type="http://schemas.openxmlformats.org/officeDocument/2006/relationships/slide" Target="/ppt/slides/slide3.xml" Id="R4ac87055c6704646" /><Relationship Type="http://schemas.openxmlformats.org/officeDocument/2006/relationships/slide" Target="/ppt/slides/slide4.xml" Id="R41dabca5fc7841ac" /><Relationship Type="http://schemas.openxmlformats.org/officeDocument/2006/relationships/slide" Target="/ppt/slides/slide5.xml" Id="Raea9fa88cfa646d6" /><Relationship Type="http://schemas.openxmlformats.org/officeDocument/2006/relationships/slide" Target="/ppt/slides/slide6.xml" Id="R2b8b75181908411f" /><Relationship Type="http://schemas.openxmlformats.org/officeDocument/2006/relationships/slide" Target="/ppt/slides/slide7.xml" Id="R8f2cbc90c0284374" /><Relationship Type="http://schemas.openxmlformats.org/officeDocument/2006/relationships/slide" Target="/ppt/slides/slide8.xml" Id="R2aca7497906f44aa" /><Relationship Type="http://schemas.openxmlformats.org/officeDocument/2006/relationships/slide" Target="/ppt/slides/slide9.xml" Id="R27203207a54d4921" /><Relationship Type="http://schemas.openxmlformats.org/officeDocument/2006/relationships/slide" Target="/ppt/slides/slide10.xml" Id="Re049d01809354d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9d316ee67ef42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1af7341b204482" /><Relationship Type="http://schemas.openxmlformats.org/officeDocument/2006/relationships/notesMaster" Target="/ppt/notesMasters/notesMaster1.xml" Id="R9f0d7f7cb4ad4d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1152731e1547fc" /><Relationship Type="http://schemas.openxmlformats.org/officeDocument/2006/relationships/notesMaster" Target="/ppt/notesMasters/notesMaster1.xml" Id="R8e6daa5847cc47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164cbb934d49c3" /><Relationship Type="http://schemas.openxmlformats.org/officeDocument/2006/relationships/notesMaster" Target="/ppt/notesMasters/notesMaster1.xml" Id="Ra6ddfb2d951f42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7ad5263d824d88" /><Relationship Type="http://schemas.openxmlformats.org/officeDocument/2006/relationships/notesMaster" Target="/ppt/notesMasters/notesMaster1.xml" Id="R06425149ce3d42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2ef1d3016a4f55" /><Relationship Type="http://schemas.openxmlformats.org/officeDocument/2006/relationships/notesMaster" Target="/ppt/notesMasters/notesMaster1.xml" Id="R568939d0c65f40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3506aa20044d3d" /><Relationship Type="http://schemas.openxmlformats.org/officeDocument/2006/relationships/notesMaster" Target="/ppt/notesMasters/notesMaster1.xml" Id="R66fc6c76264d4e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552d89628a4ff9" /><Relationship Type="http://schemas.openxmlformats.org/officeDocument/2006/relationships/notesMaster" Target="/ppt/notesMasters/notesMaster1.xml" Id="R542c1dcfd43648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3fe7491f2c44e1" /><Relationship Type="http://schemas.openxmlformats.org/officeDocument/2006/relationships/notesMaster" Target="/ppt/notesMasters/notesMaster1.xml" Id="R296a679d8fa24e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9fb442e7fa49be" /><Relationship Type="http://schemas.openxmlformats.org/officeDocument/2006/relationships/notesMaster" Target="/ppt/notesMasters/notesMaster1.xml" Id="Rc586e4d7b08d47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d00489dc834108" /><Relationship Type="http://schemas.openxmlformats.org/officeDocument/2006/relationships/notesMaster" Target="/ppt/notesMasters/notesMaster1.xml" Id="Rd19e8b658f3843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7cd780e3514fd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e1a65ee2f3c4842" /><Relationship Type="http://schemas.openxmlformats.org/officeDocument/2006/relationships/slideLayout" Target="/ppt/slideLayouts/slideLayout2.xml" Id="R7596699358404e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96699358404e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00a9084d4a4b19" /><Relationship Type="http://schemas.openxmlformats.org/officeDocument/2006/relationships/notesSlide" Target="/ppt/notesSlides/notesSlide1.xml" Id="R93c648136d4249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e048be2e9146cf" /><Relationship Type="http://schemas.openxmlformats.org/officeDocument/2006/relationships/notesSlide" Target="/ppt/notesSlides/notesSlide2.xml" Id="R05f76843613b44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2bf23178a94110" /><Relationship Type="http://schemas.openxmlformats.org/officeDocument/2006/relationships/notesSlide" Target="/ppt/notesSlides/notesSlide3.xml" Id="Rfa299503d3d84d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986caf3b7145b3" /><Relationship Type="http://schemas.openxmlformats.org/officeDocument/2006/relationships/notesSlide" Target="/ppt/notesSlides/notesSlide4.xml" Id="R6f5d713af85147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2a6d95092543b5" /><Relationship Type="http://schemas.openxmlformats.org/officeDocument/2006/relationships/notesSlide" Target="/ppt/notesSlides/notesSlide5.xml" Id="R015a56fa68cb4a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0f9955a5324314" /><Relationship Type="http://schemas.openxmlformats.org/officeDocument/2006/relationships/notesSlide" Target="/ppt/notesSlides/notesSlide6.xml" Id="Rf9871e2cca7f49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a090d455dd4a6c" /><Relationship Type="http://schemas.openxmlformats.org/officeDocument/2006/relationships/notesSlide" Target="/ppt/notesSlides/notesSlide7.xml" Id="R6f848e1a6d9d41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2704d1dc5d4e91" /><Relationship Type="http://schemas.openxmlformats.org/officeDocument/2006/relationships/notesSlide" Target="/ppt/notesSlides/notesSlide8.xml" Id="Rad8f649824794d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4a69c8e7c84d49" /><Relationship Type="http://schemas.openxmlformats.org/officeDocument/2006/relationships/notesSlide" Target="/ppt/notesSlides/notesSlide9.xml" Id="Rc3701fb0f2d442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42f66d0bbc4116" /><Relationship Type="http://schemas.openxmlformats.org/officeDocument/2006/relationships/notesSlide" Target="/ppt/notesSlides/notesSlide10.xml" Id="Ree501addeabd4f1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130314-9C1C-440F-A7FA-941A846F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01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2B886-5089-4E9D-AA75-B446DC29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FINAL ACTIVITY / MICROSOFT FOUNDRY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A988D-287B-4830-AEAD-39ED8054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RecallGuard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84556-1018-4A58-AE54-F97E65B9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0000">
            <a:off x="6762750" y="1971675"/>
            <a:ext cx="4095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4C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DEAD9-A82B-4541-B740-C713A59F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0000">
            <a:off x="7090410" y="2352675"/>
            <a:ext cx="376809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F2C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D8852-8B51-49E5-87E3-25065EE9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0000">
            <a:off x="7499985" y="2733675"/>
            <a:ext cx="335851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BDB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57AA3-29E5-4B53-A0AB-31C50548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BBF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BDBBFF"/>
                </a:solidFill>
                <a:latin typeface="Menlo"/>
                <a:ea typeface="Menlo"/>
                <a:cs typeface="Menlo"/>
              </a:rPr>
              <a:t>GOVERNED MULTI-AGENT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F579A-DE8F-4A3D-BF2A-B8E6334C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6191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40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Product safety evidence checking, governed from prompt to identity.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56E1E-A518-4DF1-B752-22617E24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5857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RecallGuard AI checks vendor product submissions against product safety policy, recall evidence, and KC certification records before marketplace listing.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D1E07-0D69-4B88-B939-3C147805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6573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8F6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E3F29-B4D4-458C-A949-EE077A69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3870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00000"/>
                </a:solidFill>
                <a:latin typeface="Menlo"/>
                <a:ea typeface="Menlo"/>
                <a:cs typeface="Menlo"/>
              </a:rPr>
              <a:t>KNOWLEDGE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4F605E-50B3-41E5-BD52-28DC004A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24400"/>
            <a:ext cx="1238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FE7014-F4B1-4DAB-84EF-F594F9E9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387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00000"/>
                </a:solidFill>
                <a:latin typeface="Menlo"/>
                <a:ea typeface="Menlo"/>
                <a:cs typeface="Menlo"/>
              </a:rPr>
              <a:t>TASK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32D8DA-196A-4020-BFCD-6F3BE9FE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24400"/>
            <a:ext cx="1809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13641"/>
          </a:solidFill>
          <a:ln xmlns:a="http://schemas.openxmlformats.org/drawingml/2006/main" w="9525">
            <a:solidFill>
              <a:srgbClr val="2626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006A6D-1F99-43FD-8FDC-2B1DEABE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387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TRACES + ENTRA 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0F639B-98CE-426E-A360-B8787FCA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10100"/>
            <a:ext cx="1257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C8F6F9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BA311A-A447-4B2D-B7CF-963F7B97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81965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EFF24C-6480-45F2-B46F-D2088ACD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91150"/>
            <a:ext cx="80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000000"/>
                </a:solidFill>
                <a:latin typeface="Menlo"/>
                <a:ea typeface="Menlo"/>
                <a:cs typeface="Menlo"/>
              </a:rPr>
              <a:t>AGENTS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DE1322-43E7-4A7C-B3F3-5C1FB29A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10100"/>
            <a:ext cx="1257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BDBB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95C417-2CFF-4635-BBF6-7AB9F301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1965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F1D08A-52B1-45C1-9C6E-B0DB1589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391150"/>
            <a:ext cx="80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000000"/>
                </a:solidFill>
                <a:latin typeface="Menlo"/>
                <a:ea typeface="Menlo"/>
                <a:cs typeface="Menlo"/>
              </a:rPr>
              <a:t>TEST CASES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86C199-F06D-4B2A-B750-42395564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610100"/>
            <a:ext cx="1257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D6C2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8E0337-788E-41CE-ABBC-F0461C3B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81965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57EB10-5C38-412B-98DA-1A92C1AF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391150"/>
            <a:ext cx="80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000000"/>
                </a:solidFill>
                <a:latin typeface="Menlo"/>
                <a:ea typeface="Menlo"/>
                <a:cs typeface="Menlo"/>
              </a:rPr>
              <a:t>WORKFLOW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DB22B3-262C-451F-AA79-9F84AE7A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BFF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BDBBFF"/>
                </a:solidFill>
                <a:latin typeface="Menlo"/>
                <a:ea typeface="Menlo"/>
                <a:cs typeface="Menlo"/>
              </a:rPr>
              <a:t>SLIDE 01 / GOVERNED MULTI-AGENT WORKFLOW</a:t>
            </a:r>
          </a:p>
        </p:txBody>
      </p:sp>
    </p:spTree>
    <p:extLst>
      <p:ext uri="{BB962C8B-B14F-4D97-AF65-F5344CB8AC3E}">
        <p14:creationId xmlns:p14="http://schemas.microsoft.com/office/powerpoint/2010/main" val="4069761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F82765-48A0-4126-96FF-20B0B67B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74E53-DD0B-4B5A-8ED5-9FBCE6D0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99999"/>
                </a:solidFill>
                <a:latin typeface="Menlo"/>
                <a:ea typeface="Menlo"/>
                <a:cs typeface="Menlo"/>
              </a:rPr>
              <a:t>PROBLEM SURFACE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340B2-4047-4B9B-9B8A-E987216C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RecallGuard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C92B9-2FC2-4D68-887D-DF8AC0B6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99999"/>
                </a:solidFill>
                <a:latin typeface="Menlo"/>
                <a:ea typeface="Menlo"/>
                <a:cs typeface="Menlo"/>
              </a:rPr>
              <a:t>WHY GOVERNANCE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64BC8-BE13-4CFA-89F2-75B3C0DF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666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3075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A vendor CSV can carry more risk than it looks.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B49BE-55AD-41E5-8710-ED71564A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85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55555"/>
                </a:solidFill>
                <a:latin typeface="Inter"/>
                <a:ea typeface="Inter"/>
                <a:cs typeface="Inter"/>
              </a:rPr>
              <a:t>The workflow has to catch product risk, missing evidence, and adversarial content without inventing a compliance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5E0F1-E920-4A4E-98BC-40D8B843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33147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E5E5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C1D88-6EA5-486E-B071-5B4C1DD2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00000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85DB4-8472-4C6E-ABDA-4901BB67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276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Recalled product slips through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BC48F3-1E34-45E8-8EB2-87CF2997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222"/>
                </a:solidFill>
                <a:latin typeface="Inter"/>
                <a:ea typeface="Inter"/>
                <a:cs typeface="Inter"/>
              </a:defRPr>
            </a:pPr>
            <a:r>
              <a:rPr sz="1088" b="0">
                <a:solidFill>
                  <a:srgbClr val="222222"/>
                </a:solidFill>
                <a:latin typeface="Inter"/>
                <a:ea typeface="Inter"/>
                <a:cs typeface="Inter"/>
              </a:rPr>
              <a:t>A recalled model or importer match must create HOLD and trigger human review.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E7C7F-64AA-4C46-9FE9-515D26DE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38500"/>
            <a:ext cx="33147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BD1A9F-F4CA-4F05-B20B-31972EC6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48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00000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C38A67-88BC-48FF-A741-FF9542D4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71900"/>
            <a:ext cx="276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Certification evidence is incomplete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61F34D-D76A-4CDC-9455-53FD3837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3865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222"/>
                </a:solidFill>
                <a:latin typeface="Inter"/>
                <a:ea typeface="Inter"/>
                <a:cs typeface="Inter"/>
              </a:defRPr>
            </a:pPr>
            <a:r>
              <a:rPr sz="1088" b="0">
                <a:solidFill>
                  <a:srgbClr val="222222"/>
                </a:solidFill>
                <a:latin typeface="Inter"/>
                <a:ea typeface="Inter"/>
                <a:cs typeface="Inter"/>
              </a:rPr>
              <a:t>Missing model, manufacturer, or KC number should become REVIEW, not APPROVE.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DC2D7D-8F1B-4580-827F-080332D7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38500"/>
            <a:ext cx="33147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C8F6F9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F57C14-7946-44C0-8142-105E544D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48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00000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1DE44E-B679-4A67-B3AD-4A99C8A4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71900"/>
            <a:ext cx="276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Vendor note attempts instruction override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41ED88-F11B-40CA-81DF-6DD1C425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3865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222"/>
                </a:solidFill>
                <a:latin typeface="Inter"/>
                <a:ea typeface="Inter"/>
                <a:cs typeface="Inter"/>
              </a:defRPr>
            </a:pPr>
            <a:r>
              <a:rPr sz="1088" b="0">
                <a:solidFill>
                  <a:srgbClr val="222222"/>
                </a:solidFill>
                <a:latin typeface="Inter"/>
                <a:ea typeface="Inter"/>
                <a:cs typeface="Inter"/>
              </a:rPr>
              <a:t>Uploaded files are untrusted data; notes must not change agent policy.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1EF008-5071-4A29-9422-517D1D20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99999"/>
                </a:solidFill>
                <a:latin typeface="Menlo"/>
                <a:ea typeface="Menlo"/>
                <a:cs typeface="Menlo"/>
              </a:rPr>
              <a:t>SLIDE 02 / GOVERNED MULTI-AGENT WORKFLOW</a:t>
            </a:r>
          </a:p>
        </p:txBody>
      </p:sp>
    </p:spTree>
    <p:extLst>
      <p:ext uri="{BB962C8B-B14F-4D97-AF65-F5344CB8AC3E}">
        <p14:creationId xmlns:p14="http://schemas.microsoft.com/office/powerpoint/2010/main" val="151416286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2E026B-38FE-4684-9866-C8F2E50E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8E94C-2C9F-48FC-AC3A-3ECBEF56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99999"/>
                </a:solidFill>
                <a:latin typeface="Menlo"/>
                <a:ea typeface="Menlo"/>
                <a:cs typeface="Menlo"/>
              </a:rPr>
              <a:t>REQUIREMENT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018CA-BD20-46B3-9DD3-F205FDEC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RecallGuard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FDD06-7E68-48AE-8A7F-9130C73F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99999"/>
                </a:solidFill>
                <a:latin typeface="Menlo"/>
                <a:ea typeface="Menlo"/>
                <a:cs typeface="Menlo"/>
              </a:rPr>
              <a:t>AUTOGRADER-CLEAR COVERAGE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D59FA-D6A6-49E3-87A6-78DAA39C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7858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300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Every final-activity requirement maps to a concrete RecallGuard artifact.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F8DD1-02D6-48F3-8BF3-F5F38A60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100012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622D74-48FB-4015-A6C1-14108CB7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EB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BC1FB-4832-42FA-A1A6-087B81C8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60" b="1">
                <a:solidFill>
                  <a:srgbClr val="999999"/>
                </a:solidFill>
                <a:latin typeface="Menlo"/>
                <a:ea typeface="Menlo"/>
                <a:cs typeface="Menlo"/>
              </a:rPr>
              <a:t>REQUIREMENT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FDA39E-74D5-416B-AC75-BFEB2D22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3571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EB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11F8C-2AEC-4CF8-8202-005E56B6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38400"/>
            <a:ext cx="3343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60" b="1">
                <a:solidFill>
                  <a:srgbClr val="999999"/>
                </a:solidFill>
                <a:latin typeface="Menlo"/>
                <a:ea typeface="Menlo"/>
                <a:cs typeface="Menlo"/>
              </a:rPr>
              <a:t>BUILT ARTIFACT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CBB15-0EE6-41BA-A662-4BC7506A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32410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EB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9EC5B-E4BA-482D-BF6B-4F3686A9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3840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60" b="1">
                <a:solidFill>
                  <a:srgbClr val="999999"/>
                </a:solidFill>
                <a:latin typeface="Menlo"/>
                <a:ea typeface="Menlo"/>
                <a:cs typeface="Menlo"/>
              </a:rPr>
              <a:t>FOUNDRY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458799-64A9-4BE5-91BB-4369829F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24100"/>
            <a:ext cx="1762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EB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CC95FA-63B6-40FF-A475-7B48EFC4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438400"/>
            <a:ext cx="1533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60" b="1">
                <a:solidFill>
                  <a:srgbClr val="999999"/>
                </a:solidFill>
                <a:latin typeface="Menlo"/>
                <a:ea typeface="Menlo"/>
                <a:cs typeface="Menlo"/>
              </a:rPr>
              <a:t>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8B0D0-3776-46C5-B0E4-597C5174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ED5605-76FB-4558-B7AA-74B2B40B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8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Knowledge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1F142C-07E9-468A-84B0-889E0007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76550"/>
            <a:ext cx="3571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342F9C-E297-448C-8A65-63FBC672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71800"/>
            <a:ext cx="3343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recallguard-knowledge-agent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68F302-CF27-47C8-AC56-B0CA466F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87655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A6786F-D477-4925-9FD3-BFC52F67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7180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File Search + vector store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470D63-3184-4564-BE72-188A80BC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876550"/>
            <a:ext cx="1762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420145-956A-4289-B048-F6792E30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971800"/>
            <a:ext cx="1533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3333"/>
                </a:solidFill>
                <a:latin typeface="Menlo"/>
                <a:ea typeface="Menlo"/>
                <a:cs typeface="Menlo"/>
              </a:defRPr>
            </a:pPr>
            <a:r>
              <a:rPr sz="660" b="0">
                <a:solidFill>
                  <a:srgbClr val="333333"/>
                </a:solidFill>
                <a:latin typeface="Menlo"/>
                <a:ea typeface="Menlo"/>
                <a:cs typeface="Menlo"/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E45E62-A0C1-462A-8C3F-597BD3AA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AC2706-513E-4D7C-BF96-75C1A227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8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Task Agent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5B9F61-E2FA-4E48-80E8-B88368B4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29000"/>
            <a:ext cx="3571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A6677A-6CB2-4432-BBDA-DC46BBE1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24250"/>
            <a:ext cx="3343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recallguard-task-agent-v5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ED121B-AC9B-497E-A17F-F353530D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42900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B41363-868C-408A-AF1F-BDBE50DB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5242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Code Interpreter + checker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A1B3E7-7FA5-4BF8-83F1-E82B857F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429000"/>
            <a:ext cx="1762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F1CBD6-A28F-404F-AF42-22251D61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524250"/>
            <a:ext cx="1533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3333"/>
                </a:solidFill>
                <a:latin typeface="Menlo"/>
                <a:ea typeface="Menlo"/>
                <a:cs typeface="Menlo"/>
              </a:defRPr>
            </a:pPr>
            <a:r>
              <a:rPr sz="660" b="0">
                <a:solidFill>
                  <a:srgbClr val="333333"/>
                </a:solidFill>
                <a:latin typeface="Menlo"/>
                <a:ea typeface="Menlo"/>
                <a:cs typeface="Menlo"/>
              </a:rPr>
              <a:t>COMPLETE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0747A3-A8C0-43F0-A930-87B87752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BB3D0E-43E5-4C71-AF38-2C525C1B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8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Sequential workflow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C256A3-47E4-4B6D-8A4F-866C0161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981450"/>
            <a:ext cx="3571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51915C-D572-4D88-9485-6C9742F8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76700"/>
            <a:ext cx="3343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recallguard-governed-workflow-v2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F86539-4D91-4807-92C3-D7721DC9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98145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4F89EA-2CE3-4006-9EF1-0A0B032D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07670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Workflow agent + portal runbook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32B515-B887-4CF1-92A4-DD046C17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981450"/>
            <a:ext cx="1762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5DC515-BA32-4413-85C2-F0801FF4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76700"/>
            <a:ext cx="1533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3333"/>
                </a:solidFill>
                <a:latin typeface="Menlo"/>
                <a:ea typeface="Menlo"/>
                <a:cs typeface="Menlo"/>
              </a:defRPr>
            </a:pPr>
            <a:r>
              <a:rPr sz="660" b="0">
                <a:solidFill>
                  <a:srgbClr val="333333"/>
                </a:solidFill>
                <a:latin typeface="Menlo"/>
                <a:ea typeface="Menlo"/>
                <a:cs typeface="Menlo"/>
              </a:rPr>
              <a:t>COMPLETE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C52AA5-7A37-4629-850C-67D4204F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39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7F1471-04EE-4C54-8E53-C5299AD1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8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Traces + Preview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92853B-49C4-40EB-9DCD-015D533C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533900"/>
            <a:ext cx="3571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FD5411-369F-4BCA-95FF-CC2BCA8A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29150"/>
            <a:ext cx="3343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Success, missing, edge runs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139EEB-D642-439D-8397-5727A81D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53390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72ACB8-1BEC-4480-8B2C-55234438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6291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Portal screenshots required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B55804-D840-4A7C-9BCA-B3E4E986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533900"/>
            <a:ext cx="1762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969FB16-E0FC-4912-BCF4-453F046C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29150"/>
            <a:ext cx="1533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3333"/>
                </a:solidFill>
                <a:latin typeface="Menlo"/>
                <a:ea typeface="Menlo"/>
                <a:cs typeface="Menlo"/>
              </a:defRPr>
            </a:pPr>
            <a:r>
              <a:rPr sz="660" b="0">
                <a:solidFill>
                  <a:srgbClr val="333333"/>
                </a:solidFill>
                <a:latin typeface="Menlo"/>
                <a:ea typeface="Menlo"/>
                <a:cs typeface="Menlo"/>
              </a:rPr>
              <a:t>CAPTURE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24A2725-6AA5-4A26-AD80-E0888C27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863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6EB19-AE6C-4A1A-BF83-C7B13884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8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Guardrails + identity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E34909D-2117-46F2-ADF7-DBCCA662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086350"/>
            <a:ext cx="3571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2BD4C14-7303-4640-8EF6-B305F222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81600"/>
            <a:ext cx="3343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Prompt-injection controls + Entra IDs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596488D-FFED-4D49-86E5-C9BD8AFD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08635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FD789BF-E422-4BD8-AAAB-8FA49B0D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18160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Agent principal IDs documented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BCDF769-C8D2-4764-8BCE-E4A1D31D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86350"/>
            <a:ext cx="1762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79E9715-9EC0-4523-AA3D-47F535C2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181600"/>
            <a:ext cx="1533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3333"/>
                </a:solidFill>
                <a:latin typeface="Menlo"/>
                <a:ea typeface="Menlo"/>
                <a:cs typeface="Menlo"/>
              </a:defRPr>
            </a:pPr>
            <a:r>
              <a:rPr sz="660" b="0">
                <a:solidFill>
                  <a:srgbClr val="333333"/>
                </a:solidFill>
                <a:latin typeface="Menlo"/>
                <a:ea typeface="Menlo"/>
                <a:cs typeface="Menlo"/>
              </a:rPr>
              <a:t>COMPLETE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BA2A84-86C6-4FE1-94CC-9D6AD098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99999"/>
                </a:solidFill>
                <a:latin typeface="Menlo"/>
                <a:ea typeface="Menlo"/>
                <a:cs typeface="Menlo"/>
              </a:rPr>
              <a:t>SLIDE 03 / GOVERNED MULTI-AGENT WORKFLOW</a:t>
            </a:r>
          </a:p>
        </p:txBody>
      </p:sp>
    </p:spTree>
    <p:extLst>
      <p:ext uri="{BB962C8B-B14F-4D97-AF65-F5344CB8AC3E}">
        <p14:creationId xmlns:p14="http://schemas.microsoft.com/office/powerpoint/2010/main" val="2624912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FB53F1-3CD4-4249-B29E-9F036B03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01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50AC7-5427-43BE-8CA2-4AFDF331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SEQUENTIAL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FFFE7-E16A-4F1A-AC3F-51A3E1BD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RecallGuard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4B635-27E4-41CB-987A-ABF16C6F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BBF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BDBBFF"/>
                </a:solidFill>
                <a:latin typeface="Menlo"/>
                <a:ea typeface="Menlo"/>
                <a:cs typeface="Menlo"/>
              </a:rPr>
              <a:t>ORCHESTRATION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F575E-8EDE-40BC-9F76-12AAB35F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1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Ground first. Act second. Escalate when risk is real.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7FB3E-20B7-4A76-BE59-1292CE34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666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The workflow intentionally separates policy grounding from file execution, then preserves a human gate for HOLD decisions.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DA07B-1A86-46C2-8F4B-5C23128A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6383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313641"/>
          </a:solidFill>
          <a:ln xmlns:a="http://schemas.openxmlformats.org/drawingml/2006/main" w="9525">
            <a:solidFill>
              <a:srgbClr val="2626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939F5-FEFC-4C18-8947-EA13D55E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DBBFF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BDBBFF"/>
                </a:solidFill>
                <a:latin typeface="Menlo"/>
                <a:ea typeface="Menlo"/>
                <a:cs typeface="Menlo"/>
              </a:rPr>
              <a:t>USER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6E0529-C6F5-417D-97DD-DEAACA97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33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Compliance associate uploads vendor CSV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E2950-2D35-4B9C-80E5-4AC1EC40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724275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18EBC-7A27-4024-B06F-F146E12D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38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6D270-170B-4779-BE41-169B7052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95725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BDBBFF"/>
                </a:solidFill>
                <a:latin typeface="Menlo"/>
                <a:ea typeface="Menlo"/>
                <a:cs typeface="Menlo"/>
              </a:defRPr>
            </a:pPr>
            <a:r>
              <a:rPr sz="645" b="0">
                <a:solidFill>
                  <a:srgbClr val="BDBBFF"/>
                </a:solidFill>
                <a:latin typeface="Menlo"/>
                <a:ea typeface="Menlo"/>
                <a:cs typeface="Menlo"/>
              </a:rPr>
              <a:t>ASK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336215-B23F-4483-A7C4-FA62CCFD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19450"/>
            <a:ext cx="18288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313641"/>
          </a:solidFill>
          <a:ln xmlns:a="http://schemas.openxmlformats.org/drawingml/2006/main" w="9525">
            <a:solidFill>
              <a:srgbClr val="2626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74B861-7F85-4558-9611-96F510DF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9090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DBBFF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BDBBFF"/>
                </a:solidFill>
                <a:latin typeface="Menlo"/>
                <a:ea typeface="Menlo"/>
                <a:cs typeface="Menlo"/>
              </a:rPr>
              <a:t>KNOWLEDGE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F25052-38F6-42B5-A712-A9EF89F8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1950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Ground policy with File 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4CF14E-0C1F-490B-AF01-10CF8C4A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24275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E6D270-8946-4D63-9AFF-6553DC77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38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85C974-C891-436A-9C1E-9ABAD1B6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95725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BDBBFF"/>
                </a:solidFill>
                <a:latin typeface="Menlo"/>
                <a:ea typeface="Menlo"/>
                <a:cs typeface="Menlo"/>
              </a:defRPr>
            </a:pPr>
            <a:r>
              <a:rPr sz="645" b="0">
                <a:solidFill>
                  <a:srgbClr val="BDBBFF"/>
                </a:solidFill>
                <a:latin typeface="Menlo"/>
                <a:ea typeface="Menlo"/>
                <a:cs typeface="Menlo"/>
              </a:rPr>
              <a:t>CRITERIA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1E9329-7C70-4EB9-AAC1-2E6B99BC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19450"/>
            <a:ext cx="18288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313641"/>
          </a:solidFill>
          <a:ln xmlns:a="http://schemas.openxmlformats.org/drawingml/2006/main" w="9525">
            <a:solidFill>
              <a:srgbClr val="2626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D5F40E-B8F7-4017-B568-6668A588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DBBFF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BDBBFF"/>
                </a:solidFill>
                <a:latin typeface="Menlo"/>
                <a:ea typeface="Menlo"/>
                <a:cs typeface="Menlo"/>
              </a:rPr>
              <a:t>TASK 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41BBF3-65E3-4C06-A08D-4AF26219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1950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Run Code Interpreter checker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DEE3A0-7458-4D3B-B30E-2CE63464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24275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EF4EBF-8F62-4244-8774-D74E4605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38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7E3360-1CD6-4305-A57C-63742831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95725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BDBBFF"/>
                </a:solidFill>
                <a:latin typeface="Menlo"/>
                <a:ea typeface="Menlo"/>
                <a:cs typeface="Menlo"/>
              </a:defRPr>
            </a:pPr>
            <a:r>
              <a:rPr sz="645" b="0">
                <a:solidFill>
                  <a:srgbClr val="BDBBFF"/>
                </a:solidFill>
                <a:latin typeface="Menlo"/>
                <a:ea typeface="Menlo"/>
                <a:cs typeface="Menlo"/>
              </a:rPr>
              <a:t>DECIDE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D71048-E664-46CD-BB48-F1FB8C33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19450"/>
            <a:ext cx="18288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313641"/>
          </a:solidFill>
          <a:ln xmlns:a="http://schemas.openxmlformats.org/drawingml/2006/main" w="9525">
            <a:solidFill>
              <a:srgbClr val="26263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02F540-EF71-4180-AB3E-86671362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9090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DBBFF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BDBBFF"/>
                </a:solidFill>
                <a:latin typeface="Menlo"/>
                <a:ea typeface="Menlo"/>
                <a:cs typeface="Menlo"/>
              </a:rPr>
              <a:t>HITL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C6C07F-D869-4F46-8FBC-5D26680A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1950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HOLD requires compliance 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C5A095-B51C-4920-BE8F-2CDBBC08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267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626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DDA11B-025C-473B-AC3E-EE9D5D19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DBBFF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BDBBFF"/>
                </a:solidFill>
                <a:latin typeface="Menlo"/>
                <a:ea typeface="Menlo"/>
                <a:cs typeface="Menlo"/>
              </a:rPr>
              <a:t>OBSERVABILITY RAIL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28148E-6036-4A71-A82E-806BE1CE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9110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Preview + Traces + Guardrails + Entra Agent ID governance sit across the full workflow.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BA2FC6-F811-49C5-89D4-DE2EA562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BFF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BDBBFF"/>
                </a:solidFill>
                <a:latin typeface="Menlo"/>
                <a:ea typeface="Menlo"/>
                <a:cs typeface="Menlo"/>
              </a:rPr>
              <a:t>SLIDE 04 / GOVERNED MULTI-AGENT WORKFLOW</a:t>
            </a:r>
          </a:p>
        </p:txBody>
      </p:sp>
    </p:spTree>
    <p:extLst>
      <p:ext uri="{BB962C8B-B14F-4D97-AF65-F5344CB8AC3E}">
        <p14:creationId xmlns:p14="http://schemas.microsoft.com/office/powerpoint/2010/main" val="147865884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D880BE-06FC-4E7A-B0AB-425427CC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6EA2E-4FFD-44A4-8C57-B097FB0B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99999"/>
                </a:solidFill>
                <a:latin typeface="Menlo"/>
                <a:ea typeface="Menlo"/>
                <a:cs typeface="Menlo"/>
              </a:rPr>
              <a:t>KNOWLEDGE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E5B46-D97B-48EB-B65E-4B98B2AF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RecallGuard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A5DE5-537A-4526-9F7B-D6B26E62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99999"/>
                </a:solidFill>
                <a:latin typeface="Menlo"/>
                <a:ea typeface="Menlo"/>
                <a:cs typeface="Menlo"/>
              </a:rPr>
              <a:t>GROUNDED Q&amp;A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DB147E-C80B-4DE9-92C0-53D7A4EF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6381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2925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The policy answer is allowed to say “I do not know.”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DBE37-3F1C-4D3B-85E1-00552994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628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55555"/>
                </a:solidFill>
                <a:latin typeface="Inter"/>
                <a:ea typeface="Inter"/>
                <a:cs typeface="Inter"/>
              </a:rPr>
              <a:t>The Knowledge Agent uses indexed policy files and must cite evidence or surface missing information instead of guessing.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261F8-6FC7-4D54-A0DF-B72685ED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76300"/>
            <a:ext cx="35242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BEBEB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66FFA-D485-47E3-B949-30810287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1049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000000"/>
                </a:solidFill>
                <a:latin typeface="Menlo"/>
                <a:ea typeface="Menlo"/>
                <a:cs typeface="Menlo"/>
              </a:rPr>
              <a:t>INSTRUCTION SNIPPET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2E464-09A5-49F9-AE85-482A1B7A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09700"/>
            <a:ext cx="2952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Answer only using connected knowledge sources. Do not guess. List evidence, missing information, and next compliance action.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AF0B3-AC55-4F15-8946-6A7256BD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9048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5B629-6536-4AC0-96B8-6679AB3E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EB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6F00A-AD18-4849-950F-43C506FD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60" b="1">
                <a:solidFill>
                  <a:srgbClr val="999999"/>
                </a:solidFill>
                <a:latin typeface="Menlo"/>
                <a:ea typeface="Menlo"/>
                <a:cs typeface="Menlo"/>
              </a:rPr>
              <a:t>KNOWLEDGE SOURCE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73BF0-6B38-4F57-965F-BFB940DE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38500"/>
            <a:ext cx="609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EB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CE037D-D722-430B-AB9C-0882A835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52800"/>
            <a:ext cx="586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60" b="1">
                <a:solidFill>
                  <a:srgbClr val="999999"/>
                </a:solidFill>
                <a:latin typeface="Menlo"/>
                <a:ea typeface="Menlo"/>
                <a:cs typeface="Menlo"/>
              </a:rPr>
              <a:t>ROLE IN ANSWERING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7DE167-93ED-4F37-9190-9E06913F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19C8EC-F555-4838-B6B6-5F2AB086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8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product_safety_review_sop.md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393149-AAFA-4F96-877B-AF26C8C4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52850"/>
            <a:ext cx="609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116DB7-9D4F-45AD-98AE-CA7845C3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48100"/>
            <a:ext cx="586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Decision labels and conservative approval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CCC701-F15F-4836-85EC-0443A5FC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672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252411-5169-4A3A-812A-B9342498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8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kc_certification_review_checklist.md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4E4923-477E-447B-9A7D-7943A279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67200"/>
            <a:ext cx="609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84D562-D6BA-483A-AACB-E9592ED0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62450"/>
            <a:ext cx="586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Required vendor fields and evidence strength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1C2757-099A-4595-B59D-0A90AD05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15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E0D541-BF38-4868-923C-57028BDC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8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recall_response_policy.md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0C8797-22B7-4F1D-B407-8B5D76D5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781550"/>
            <a:ext cx="609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F89B7D-0CD7-4B54-BEB2-2A5B5FF1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76800"/>
            <a:ext cx="586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Recall match handling and human review rule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5525A8-E749-4124-80E6-F4C2DB7E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959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3190D9-BCAB-4335-9A98-9C6ECC66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8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vendor_submission_requirements.md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8A2D9A-4CF0-40A8-BB03-5FBC15C4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295900"/>
            <a:ext cx="609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DC72DE-2551-4CAA-810F-D3C2736F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391150"/>
            <a:ext cx="586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Untrusted content and required submission fields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599AD7-5ADD-4A80-8F8B-5F6299D2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99999"/>
                </a:solidFill>
                <a:latin typeface="Menlo"/>
                <a:ea typeface="Menlo"/>
                <a:cs typeface="Menlo"/>
              </a:rPr>
              <a:t>SLIDE 05 / GOVERNED MULTI-AGENT WORKFLOW</a:t>
            </a:r>
          </a:p>
        </p:txBody>
      </p:sp>
    </p:spTree>
    <p:extLst>
      <p:ext uri="{BB962C8B-B14F-4D97-AF65-F5344CB8AC3E}">
        <p14:creationId xmlns:p14="http://schemas.microsoft.com/office/powerpoint/2010/main" val="119820240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744789-37A6-4B5F-B07A-9802F07B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A69EA-759F-4B31-BE51-F2594A71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99999"/>
                </a:solidFill>
                <a:latin typeface="Menlo"/>
                <a:ea typeface="Menlo"/>
                <a:cs typeface="Menlo"/>
              </a:rPr>
              <a:t>TASK AGENT HARDENING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7C2A0-86AC-4D0F-86B7-9641F460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RecallGuard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3B5D8-5CA2-48D2-A4B3-0DC3B769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99999"/>
                </a:solidFill>
                <a:latin typeface="Menlo"/>
                <a:ea typeface="Menlo"/>
                <a:cs typeface="Menlo"/>
              </a:rPr>
              <a:t>TOOL EXECUTION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3877A-218F-48A0-B648-797C03C2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7620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2925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A false HOLD became the reason to stop trusting free-form classification.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D7A967-9665-4EE7-BBC3-A99A23B8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55555"/>
                </a:solidFill>
                <a:latin typeface="Inter"/>
                <a:ea typeface="Inter"/>
                <a:cs typeface="Inter"/>
              </a:rPr>
              <a:t>The final Task Agent uses Code Interpreter plus recallguard_checker.py so row-level decisions are deterministic and evidence_type-aware.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221628-4218-401A-B029-8571D299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95650"/>
            <a:ext cx="27241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E5E5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19998-0986-43E8-B0B3-51714754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000000"/>
                </a:solidFill>
                <a:latin typeface="Menlo"/>
                <a:ea typeface="Menlo"/>
                <a:cs typeface="Menlo"/>
              </a:rPr>
              <a:t>EARLY 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5B518-F832-487A-9C3D-44C93A6B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Certification evidence was incorrectly treated as HOLD.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8E097-B85C-4D4C-9C69-0F64CAA7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433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16040F-CC38-4B71-A053-1F452ADB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576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B035A2-40EC-4450-B122-8083B87C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14800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45" b="0">
                <a:solidFill>
                  <a:srgbClr val="999999"/>
                </a:solidFill>
                <a:latin typeface="Menlo"/>
                <a:ea typeface="Menlo"/>
                <a:cs typeface="Menlo"/>
              </a:rPr>
              <a:t>TRACE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C1AF8-1667-479B-88B6-B271DEA5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95650"/>
            <a:ext cx="27241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7EE5A1-48F2-455A-BCA5-3649DB92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242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000000"/>
                </a:solidFill>
                <a:latin typeface="Menlo"/>
                <a:ea typeface="Menlo"/>
                <a:cs typeface="Menlo"/>
              </a:rPr>
              <a:t>FIX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519257-63CD-44BC-8CFD-73B78F7D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8481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Only evidence_type == recall can create HOLD.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8DBE5D-FA31-4ADA-BF32-C1B6F9C2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9433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CC1BAC-3595-459B-97EB-67850E17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576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B6E6FF-ED7B-42A6-88DF-7A0554A7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14800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45" b="0">
                <a:solidFill>
                  <a:srgbClr val="999999"/>
                </a:solidFill>
                <a:latin typeface="Menlo"/>
                <a:ea typeface="Menlo"/>
                <a:cs typeface="Menlo"/>
              </a:rPr>
              <a:t>CODE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A89835-520F-41F5-9B73-E6EDCD24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95650"/>
            <a:ext cx="27241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C8F6F9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4BF170-1A2E-4266-96AE-21F056C0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2425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000000"/>
                </a:solidFill>
                <a:latin typeface="Menlo"/>
                <a:ea typeface="Menlo"/>
                <a:cs typeface="Menlo"/>
              </a:rPr>
              <a:t>FINAL 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420D44-7E0D-4D4E-8537-B95FE573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481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Task Agent v5 runs deterministic Python.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BBDDB2-BDA2-4BE1-8521-D46B95F9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99999"/>
                </a:solidFill>
                <a:latin typeface="Menlo"/>
                <a:ea typeface="Menlo"/>
                <a:cs typeface="Menlo"/>
              </a:rPr>
              <a:t>SLIDE 06 / GOVERNED MULTI-AGENT WORKFLOW</a:t>
            </a:r>
          </a:p>
        </p:txBody>
      </p:sp>
    </p:spTree>
    <p:extLst>
      <p:ext uri="{BB962C8B-B14F-4D97-AF65-F5344CB8AC3E}">
        <p14:creationId xmlns:p14="http://schemas.microsoft.com/office/powerpoint/2010/main" val="12253163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761D53-139F-47C2-BEA6-CCE2AB5F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4FB279-BF86-48D0-A66B-596DFAD9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99999"/>
                </a:solidFill>
                <a:latin typeface="Menlo"/>
                <a:ea typeface="Menlo"/>
                <a:cs typeface="Menlo"/>
              </a:rPr>
              <a:t>TEST CASES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E58C3-1FD6-4AAB-BFCD-1FC089A7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RecallGuard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FFE93-A217-49E8-BE79-AB4C85F4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99999"/>
                </a:solidFill>
                <a:latin typeface="Menlo"/>
                <a:ea typeface="Menlo"/>
                <a:cs typeface="Menlo"/>
              </a:rPr>
              <a:t>EVIDENCE MATRIX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BBD58-62B3-4DC8-896B-B3C06613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723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The demo covers the happy path, missing evidence, recall risk, and prompt injection.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8C2C1-919E-431C-88F1-9C95184E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55555"/>
                </a:solidFill>
                <a:latin typeface="Inter"/>
                <a:ea typeface="Inter"/>
                <a:cs typeface="Inter"/>
              </a:rPr>
              <a:t>These outcomes are intentionally submission-friendly: every result maps to a Foundry final-activity requirement.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8DC5A-6343-4211-A3A3-1B563391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238250"/>
            <a:ext cx="11049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E5E5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C54F3-36F6-4DFB-9031-4AACDC0D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44780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79D70-6D20-4F32-A370-0CFC9807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62150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000000"/>
                </a:solidFill>
                <a:latin typeface="Menlo"/>
                <a:ea typeface="Menlo"/>
                <a:cs typeface="Menlo"/>
              </a:rPr>
              <a:t>HOLD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C4BF6-3663-4ABE-B3F4-84753D11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238250"/>
            <a:ext cx="11049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79F81-C489-401B-AD10-03F9068D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44780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76C491-3D5A-48B9-89DB-C85081AD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962150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000000"/>
                </a:solidFill>
                <a:latin typeface="Menlo"/>
                <a:ea typeface="Menlo"/>
                <a:cs typeface="Menlo"/>
              </a:rPr>
              <a:t>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D0943-94DD-4F11-AE05-6795CCD3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9906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6E70DE-1378-40BC-9F9C-21F2824B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EB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38B89-DE16-4698-A0DE-73FF5554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60" b="1">
                <a:solidFill>
                  <a:srgbClr val="999999"/>
                </a:solidFill>
                <a:latin typeface="Menlo"/>
                <a:ea typeface="Menlo"/>
                <a:cs typeface="Menlo"/>
              </a:rPr>
              <a:t>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B451DB-4D9B-4387-BC66-7047E2E6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527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EB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151702-C630-4572-AE8F-053EB6A0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670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60" b="1">
                <a:solidFill>
                  <a:srgbClr val="999999"/>
                </a:solidFill>
                <a:latin typeface="Menlo"/>
                <a:ea typeface="Menlo"/>
                <a:cs typeface="Menlo"/>
              </a:rPr>
              <a:t>INPUT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1E0A71-29DC-4669-B97F-13F70C31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527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EB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828BC2-9D80-4EF2-B2AC-4A3C84B6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670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60" b="1">
                <a:solidFill>
                  <a:srgbClr val="999999"/>
                </a:solidFill>
                <a:latin typeface="Menlo"/>
                <a:ea typeface="Menlo"/>
                <a:cs typeface="Menlo"/>
              </a:rPr>
              <a:t>OBSERVED OUTCOME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9B484D-CB50-4E17-AE24-F8E1745B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527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EB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C6B2D6-A971-4627-8E2B-C9DCFA4D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670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60" b="1">
                <a:solidFill>
                  <a:srgbClr val="999999"/>
                </a:solidFill>
                <a:latin typeface="Menlo"/>
                <a:ea typeface="Menlo"/>
                <a:cs typeface="Menlo"/>
              </a:rPr>
              <a:t>WHY IT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CBDFB8-90AE-4CD1-A786-958D7257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864138-D8FE-4A65-95AA-AE1C1DAA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8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Knowledge Q&amp;A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A49CBC-39D4-4FD5-A7A1-411CB0C9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052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ED1BA2-5FA0-4AE7-80C2-232256D9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004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Policy question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7B981D-EC67-49C5-9348-A3BE1E21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052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8E655F-BA30-4C0D-A501-DDB7ECBB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004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Grounded answer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355E02-7C8F-416D-8B50-D9AFF966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052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A11F63-D91B-497A-92CE-454F66B4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004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Covers Knowledge Agent requirement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4B7D76-7432-4B64-8F00-E4F72CE6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996804-27F3-4628-BB05-9ED82A66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8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Recall match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6E9908-99D7-419A-9769-51A66107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576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EE1C48-E2F3-445F-8F9A-914B4B5D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5290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vendor_products_recall_match.csv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9090E6-E3E6-43EF-A983-012E3AF2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576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056668-887F-45D6-B8A9-01F7AAE1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529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1 HOLD / 1 APPROVE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39BCD4-32DF-4019-A802-0E4B8FB3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576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A5D95A-548A-43F4-8FF2-494E4A47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5290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Proves risk triage + HITL trigger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04D8E3-D6B1-4836-B956-C9E7E309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8F091B-7C93-4F59-B297-834EEC00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8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Missing fields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C130D4-28FA-4CA0-89C6-61B6F401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101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F804C9-E291-4411-9C08-B74C8D1E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053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vendor_products_missing_fields.csv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96608A-70D9-416B-9238-D042B50B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101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AC5D8E-CBBB-4F14-9D5A-594C65F8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053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2 REVIEW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C6712B-C7B3-440C-BF2E-EC041DEB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101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6F3B32-33DE-417D-9374-FC58821D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053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Prevents unsafe approval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1C9DC3-305D-470C-A4A1-EFCF8B9F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2BBD232-F0CA-41A2-A75B-CAC32A4F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8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Prompt injection edge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32304EA-05F5-4C88-A518-02116793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625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A9992F0-8E2D-4F99-B07E-9E08997E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5780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vendor_products_prompt_injection.csv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3F8FB48-591A-4A60-86AE-AF8E2C41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1625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52AD5C7-BD08-47DF-AC05-1014836B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578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1 HOLD / 1 APPROVE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40D92FE-2B61-4FB3-8419-7F19AACA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625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0ED636A-79D0-4CB2-A4E8-06BEB874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5780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Treats notes as untrusted data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37A95E1-893B-430D-8181-AE7EEB58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99999"/>
                </a:solidFill>
                <a:latin typeface="Menlo"/>
                <a:ea typeface="Menlo"/>
                <a:cs typeface="Menlo"/>
              </a:rPr>
              <a:t>SLIDE 07 / GOVERNED MULTI-AGENT WORKFLOW</a:t>
            </a:r>
          </a:p>
        </p:txBody>
      </p:sp>
    </p:spTree>
    <p:extLst>
      <p:ext uri="{BB962C8B-B14F-4D97-AF65-F5344CB8AC3E}">
        <p14:creationId xmlns:p14="http://schemas.microsoft.com/office/powerpoint/2010/main" val="104201522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049A6C-0785-402A-99A3-B58655D2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01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CDAD9-C509-42BB-AFA7-28EA2829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46C27-DE0B-4C3C-95B4-C143DF0D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RecallGuard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68903-DEBC-4271-B6F6-3E22C767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BBF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BDBBFF"/>
                </a:solidFill>
                <a:latin typeface="Menlo"/>
                <a:ea typeface="Menlo"/>
                <a:cs typeface="Menlo"/>
              </a:rPr>
              <a:t>GUARDRAILS + IDENTITY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FD9EF-096A-4E70-9AAB-8607B3DC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800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0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The workflow is governed at the prompt, tool, trace, and identity layers.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FC7B5-4808-4112-8005-68CCDD80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Foundry guardrails cover prompt injection and safety. Agent instructions and deterministic code add application-level controls.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6EB86-C3C1-4026-A1C8-5B3F23D7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90487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839370-DE69-467D-A826-B64F358E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641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5734E-6347-4C90-99B0-AA599235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60" b="1">
                <a:solidFill>
                  <a:srgbClr val="999999"/>
                </a:solidFill>
                <a:latin typeface="Menlo"/>
                <a:ea typeface="Menlo"/>
                <a:cs typeface="Menlo"/>
              </a:rPr>
              <a:t>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A11C4-CCB3-4A0E-ACE7-3EBA6C54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956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641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6B1D5-05EB-487B-BF84-1D91F76D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009900"/>
            <a:ext cx="320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60" b="1">
                <a:solidFill>
                  <a:srgbClr val="999999"/>
                </a:solidFill>
                <a:latin typeface="Menlo"/>
                <a:ea typeface="Menlo"/>
                <a:cs typeface="Menlo"/>
              </a:rPr>
              <a:t>IMPLEMENTATION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AD7CB7-40B4-45E0-9A1B-F08BD02F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95600"/>
            <a:ext cx="3381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641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1035A-76A3-4E9C-8B6C-557433EA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09900"/>
            <a:ext cx="3152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60" b="1">
                <a:solidFill>
                  <a:srgbClr val="999999"/>
                </a:solidFill>
                <a:latin typeface="Menlo"/>
                <a:ea typeface="Menlo"/>
                <a:cs typeface="Menlo"/>
              </a:rPr>
              <a:t>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EC0E4D-5B0D-47A7-85B4-4A081D70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4805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552F96-60A4-425A-B76E-9B6959CE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0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Prompt injection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1F1056-5859-41AE-9E04-6BF03685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4480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67B65F-AF83-498A-813D-40DF10E3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543300"/>
            <a:ext cx="320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0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Vendor notes treated only as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E70762-5661-41BB-87D6-030D897B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48050"/>
            <a:ext cx="3381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B9B565-BB1F-42F4-B469-B9B10801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543300"/>
            <a:ext cx="3152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0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Edge case output saved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0EF07E-649C-45E0-ABF5-77BFA739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6D62FF-8253-40AC-AD12-1E426238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0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Ungrounded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99EB92-1C7F-494F-AC88-E5ECAAAB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0005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A88F42-B927-48C8-B7CA-FE540064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095750"/>
            <a:ext cx="320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0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Knowledge Agent cites connected sources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8AB383-75EA-49EC-9DA4-C78EB666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00500"/>
            <a:ext cx="3381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704584-973D-43D6-A753-E79ABDE7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095750"/>
            <a:ext cx="3152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0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File Search/vector store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BD2CFB-C533-469C-85D8-FE1686D0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45DA25-2649-4BDC-A0C5-830B9A87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0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Unsafe approval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C129C3-CAC0-45D5-9937-29CF4196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5529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F00DA1-A5E5-4F83-8A17-AA959E12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648200"/>
            <a:ext cx="320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0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Missing identifiers =&gt; 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30127A-B59B-488E-8FA5-6F2500AA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552950"/>
            <a:ext cx="3381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BE3093-20E7-4A84-8842-1EFC30D7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648200"/>
            <a:ext cx="3152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0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Checker policy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395528-E479-4A52-8B6A-1B68DD4C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0540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5A8AD2-2BD0-42B4-93C7-3C8FED48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0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Identity governance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114E43-3162-45A0-BCC9-75BF9DFA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1054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0FCF54-8203-4823-B57A-9E67DDCB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5200650"/>
            <a:ext cx="320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0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Agent principal IDs documented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497C42-E8BA-416F-9B04-CAFC3CCB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105400"/>
            <a:ext cx="3381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5744C8-056F-4CE4-99A7-1395B15C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200650"/>
            <a:ext cx="3152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0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Entra Agent ID notes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D3C6AE-47CE-4A32-9C75-F1973BFD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95600"/>
            <a:ext cx="1752600" cy="21526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313641"/>
          </a:solidFill>
          <a:ln xmlns:a="http://schemas.openxmlformats.org/drawingml/2006/main" w="9525">
            <a:solidFill>
              <a:srgbClr val="26263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A9F220-AAE3-457C-B1E1-57C3738D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24200"/>
            <a:ext cx="76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DBBFF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BDBBFF"/>
                </a:solidFill>
                <a:latin typeface="Menlo"/>
                <a:ea typeface="Menlo"/>
                <a:cs typeface="Menlo"/>
              </a:rPr>
              <a:t>KEY IDS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3EAEA5-0025-49DB-9EC7-02B8D6CB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48050"/>
            <a:ext cx="1371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Knowledge</a:t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934a3b63...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Task v5</a:t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0883e31b...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Workflow</a:t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10ac3c72...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0474B5-1A89-44DC-B8AB-EE38F5A6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BFF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BDBBFF"/>
                </a:solidFill>
                <a:latin typeface="Menlo"/>
                <a:ea typeface="Menlo"/>
                <a:cs typeface="Menlo"/>
              </a:rPr>
              <a:t>SLIDE 08 / GOVERNED MULTI-AGENT WORKFLOW</a:t>
            </a:r>
          </a:p>
        </p:txBody>
      </p:sp>
    </p:spTree>
    <p:extLst>
      <p:ext uri="{BB962C8B-B14F-4D97-AF65-F5344CB8AC3E}">
        <p14:creationId xmlns:p14="http://schemas.microsoft.com/office/powerpoint/2010/main" val="1559391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720471-DD6F-4F07-A120-53C0AB7F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426C4-26C8-4F16-ADB0-7B38B584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99999"/>
                </a:solidFill>
                <a:latin typeface="Menlo"/>
                <a:ea typeface="Menlo"/>
                <a:cs typeface="Menlo"/>
              </a:rPr>
              <a:t>VIDEO STORYBOARD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C92CC-DF62-4448-8FAE-626A9F4B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RecallGuard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D9D81-3E2F-4D95-AFE1-2FB1B9EC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99999"/>
                </a:solidFill>
                <a:latin typeface="Menlo"/>
                <a:ea typeface="Menlo"/>
                <a:cs typeface="Menlo"/>
              </a:rPr>
              <a:t>3-MINUTE DEMO SCRIPT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A54EF8-A040-44C2-A515-5D0B86BE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300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The recording should prove Foundry usage before it explains the idea.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8E597-CA5F-42BE-A41D-D044B177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752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55555"/>
                </a:solidFill>
                <a:latin typeface="Inter"/>
                <a:ea typeface="Inter"/>
                <a:cs typeface="Inter"/>
              </a:rPr>
              <a:t>Use this slide as the video run-of-show. Replace the placeholder segments with actual portal Preview, Trace, Guardrails, and Agent ID screens.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2B25E-984D-4DAA-A2CE-3049E3E7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3143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4F73AA-82E2-4757-B65B-AF3DC9A9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000000"/>
                </a:solidFill>
                <a:latin typeface="Menlo"/>
                <a:ea typeface="Menlo"/>
                <a:cs typeface="Menlo"/>
              </a:rPr>
              <a:t>0:00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3C085-B00B-41DE-AAAC-E0CCCD0B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81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Project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0217EF-210D-4FE7-9CAA-BDF8AD3B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2667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55555"/>
                </a:solidFill>
                <a:latin typeface="Inter"/>
                <a:ea typeface="Inter"/>
                <a:cs typeface="Inter"/>
              </a:rPr>
              <a:t>Show recallguard-ai project and scenario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A5633F-4429-4984-8C35-2154AB30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861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5E174E-D7F9-40F5-86C2-2152C927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004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72E817-6477-48F4-8BB5-3F4D81ED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48000"/>
            <a:ext cx="3143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9BECDC-2CFC-4182-9702-0D9C0A3E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1945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000000"/>
                </a:solidFill>
                <a:latin typeface="Menlo"/>
                <a:ea typeface="Menlo"/>
                <a:cs typeface="Menlo"/>
              </a:rPr>
              <a:t>0:25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ADC850-823A-47F4-82EB-9CBFC585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181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DB5E62-64C5-460E-9DDD-978F70B1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43300"/>
            <a:ext cx="2667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55555"/>
                </a:solidFill>
                <a:latin typeface="Inter"/>
                <a:ea typeface="Inter"/>
                <a:cs typeface="Inter"/>
              </a:rPr>
              <a:t>Show Knowledge Agent and Task Agent v5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456700-FB80-40B0-AA06-FC38ADCF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861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9F66AF-E23B-4FF6-ACC1-1A2A8228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004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D35A46-21C1-46F5-BB6C-D0D9FFD7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48000"/>
            <a:ext cx="3143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C8F6F9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0AE108-BEAE-4859-8AA1-7312BE02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1945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000000"/>
                </a:solidFill>
                <a:latin typeface="Menlo"/>
                <a:ea typeface="Menlo"/>
                <a:cs typeface="Menlo"/>
              </a:rPr>
              <a:t>0:55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C56598-5BC4-40B3-A3E9-EA39A171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181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Workflow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81A17E-E30C-4D55-B5FD-6D1F4C3D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43300"/>
            <a:ext cx="2667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55555"/>
                </a:solidFill>
                <a:latin typeface="Inter"/>
                <a:ea typeface="Inter"/>
                <a:cs typeface="Inter"/>
              </a:rPr>
              <a:t>Show sequential workflow Preview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5A51B5-599E-4E41-9C5E-E9686FCC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9600"/>
            <a:ext cx="3143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8BF2C1-AE65-4E70-B277-4F98340B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000000"/>
                </a:solidFill>
                <a:latin typeface="Menlo"/>
                <a:ea typeface="Menlo"/>
                <a:cs typeface="Menlo"/>
              </a:rPr>
              <a:t>1:40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E03E26-D827-4EBA-AD5E-6475C212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529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Tests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D7772F-C4E9-4D8F-83AC-0214E06D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2667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55555"/>
                </a:solidFill>
                <a:latin typeface="Inter"/>
                <a:ea typeface="Inter"/>
                <a:cs typeface="Inter"/>
              </a:rPr>
              <a:t>Show recall + missing + edge outcomes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AE2B1F-9B96-4C31-B887-C7D06C89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57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2ADCA1-2B82-4128-BC94-72D887E2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720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3CD325-22EE-49C7-ADF9-59465E16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419600"/>
            <a:ext cx="3143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FC4B62-C276-4BD2-BDB3-FD95368D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9105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000000"/>
                </a:solidFill>
                <a:latin typeface="Menlo"/>
                <a:ea typeface="Menlo"/>
                <a:cs typeface="Menlo"/>
              </a:rPr>
              <a:t>2:25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5187BE-9415-4298-B1D9-28C98CE4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5529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Traces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90C751-2AC3-493A-8463-ABD4DF63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14900"/>
            <a:ext cx="2667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55555"/>
                </a:solidFill>
                <a:latin typeface="Inter"/>
                <a:ea typeface="Inter"/>
                <a:cs typeface="Inter"/>
              </a:rPr>
              <a:t>Show Trace and guardrail configuration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FF8AC2-62DE-47C3-96FD-C26B6A0B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857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85A9B2-675F-48C7-8484-7432847B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720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4CEAAF-A802-4C0C-AAA6-FFE4691F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19600"/>
            <a:ext cx="3143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128A30-42EF-4D31-AD1D-D76BA68D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9105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000000"/>
                </a:solidFill>
                <a:latin typeface="Menlo"/>
                <a:ea typeface="Menlo"/>
                <a:cs typeface="Menlo"/>
              </a:rPr>
              <a:t>2:50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FF87E4-2304-4C27-9B1D-098938C6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5529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Reflection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D4DCEE-EC58-4E7C-805D-5781A256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14900"/>
            <a:ext cx="2667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55555"/>
                </a:solidFill>
                <a:latin typeface="Inter"/>
                <a:ea typeface="Inter"/>
                <a:cs typeface="Inter"/>
              </a:rPr>
              <a:t>What improved after testing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DD368E-DFCD-45E3-A77A-53CAC117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99999"/>
                </a:solidFill>
                <a:latin typeface="Menlo"/>
                <a:ea typeface="Menlo"/>
                <a:cs typeface="Menlo"/>
              </a:rPr>
              <a:t>SLIDE 09 / GOVERNED MULTI-AGENT WORKFLOW</a:t>
            </a:r>
          </a:p>
        </p:txBody>
      </p:sp>
    </p:spTree>
    <p:extLst>
      <p:ext uri="{BB962C8B-B14F-4D97-AF65-F5344CB8AC3E}">
        <p14:creationId xmlns:p14="http://schemas.microsoft.com/office/powerpoint/2010/main" val="18973324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84B6D8-36CC-4BDB-89DA-E0F6C53B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01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70B01-E473-4F16-AED6-0E3973D6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SUBMISSION PACKAGE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000D39-35F0-46C8-B37F-AE7CA632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RecallGuard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485BA-2D3D-47A7-9D05-864D9F72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7429500" y="1426845"/>
            <a:ext cx="3429000" cy="64008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C4C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DE0A7-1FB5-4055-B330-D5A7C758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7703820" y="1746885"/>
            <a:ext cx="3154680" cy="64008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F2C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95DFD-3E53-439F-9E8B-187E89C0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8046720" y="2066925"/>
            <a:ext cx="2811780" cy="64008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BDB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518A9-B1D3-4939-BD01-C061D7DB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BBF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BDBBFF"/>
                </a:solidFill>
                <a:latin typeface="Menlo"/>
                <a:ea typeface="Menlo"/>
                <a:cs typeface="Menlo"/>
              </a:rPr>
              <a:t>READY-TO-SUBMIT FILES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2C406-6346-4584-B307-EB8EAB77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666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1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Submit the video and report; keep the PPT as the editable source.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870E3-7FC1-4CE5-820E-D6CDA60F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The report is ATS-friendly, the deck is recording-ready, and the MP4 can be regenerated from slide previews and narration.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B1FA5-F684-4D05-89EF-EB6B7BF2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57550"/>
            <a:ext cx="9334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DC343-21DA-42A8-A2CE-1255AAD0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575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641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077871-CFC7-4D62-A2AA-D6390682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60" b="1">
                <a:solidFill>
                  <a:srgbClr val="999999"/>
                </a:solidFill>
                <a:latin typeface="Menlo"/>
                <a:ea typeface="Menlo"/>
                <a:cs typeface="Menlo"/>
              </a:rPr>
              <a:t>FILE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07CF7-448A-46C6-A853-D7320DDC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575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641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168802-6AA9-4042-9DF4-6A2664B6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71850"/>
            <a:ext cx="377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60" b="1">
                <a:solidFill>
                  <a:srgbClr val="999999"/>
                </a:solidFill>
                <a:latin typeface="Menlo"/>
                <a:ea typeface="Menlo"/>
                <a:cs typeface="Menlo"/>
              </a:rPr>
              <a:t>PURPOSE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060C01-0231-4B4F-A4BD-2540FC01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575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641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6561CF-443E-441C-9259-34375CE2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7185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60" b="1">
                <a:solidFill>
                  <a:srgbClr val="999999"/>
                </a:solidFill>
                <a:latin typeface="Menlo"/>
                <a:ea typeface="Menlo"/>
                <a:cs typeface="Menlo"/>
              </a:rPr>
              <a:t>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1BAC07-CF1E-4AEA-991B-CC120AB4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82F5B6-A38E-45F4-A0FE-34D911D6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0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RecallGuard_AI_Demo_Somi.mp4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384B51-90B7-4D65-AE53-0EF95AA1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1000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DE62A0-5B0E-4EF4-BCDF-B52354C2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905250"/>
            <a:ext cx="377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0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Required video deliverable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B2796A-0CFF-43B8-9F96-0D626549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100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AEAF02-AB3A-4F0F-9489-66BFACCB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3333"/>
                </a:solidFill>
                <a:latin typeface="Menlo"/>
                <a:ea typeface="Menlo"/>
                <a:cs typeface="Menlo"/>
              </a:defRPr>
            </a:pPr>
            <a:r>
              <a:rPr sz="660" b="0">
                <a:solidFill>
                  <a:srgbClr val="333333"/>
                </a:solidFill>
                <a:latin typeface="Menlo"/>
                <a:ea typeface="Menlo"/>
                <a:cs typeface="Menlo"/>
              </a:rPr>
              <a:t>READY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2E8F6B-97CB-4BF3-BF00-5613AC6F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624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8EC3D1-9FD5-4C6B-B952-72C0F472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0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RecallGuard_AI_Build_Report_Somi.pdf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A69947-EC99-4977-BC5B-8B265D68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624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D3EB3F-965A-4A51-9AD2-A41BB4B8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57700"/>
            <a:ext cx="377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0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Required document deliverable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996F89-ABD4-4C5E-9BC1-9B09B737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624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BE2F54-2D5A-4294-8DAB-F0E58022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5770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3333"/>
                </a:solidFill>
                <a:latin typeface="Menlo"/>
                <a:ea typeface="Menlo"/>
                <a:cs typeface="Menlo"/>
              </a:defRPr>
            </a:pPr>
            <a:r>
              <a:rPr sz="660" b="0">
                <a:solidFill>
                  <a:srgbClr val="333333"/>
                </a:solidFill>
                <a:latin typeface="Menlo"/>
                <a:ea typeface="Menlo"/>
                <a:cs typeface="Menlo"/>
              </a:rPr>
              <a:t>READY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C83BB4-207C-45E1-90B2-17ADAAB8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49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B9CF32-0380-46E8-8B7F-D5DCCED0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0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RecallGuard_AI_Foundry_Deck_Somi.pptx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323DC4-F53A-450D-A817-31A99B26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1490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00A9CC-DAA6-4312-BDE4-9A70EC0F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010150"/>
            <a:ext cx="377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0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Editable video/source deck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250FD6-AC42-4AFB-94DA-7DD26D4E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9149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370345-D41F-48F9-A121-CD6B5B38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1015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3333"/>
                </a:solidFill>
                <a:latin typeface="Menlo"/>
                <a:ea typeface="Menlo"/>
                <a:cs typeface="Menlo"/>
              </a:defRPr>
            </a:pPr>
            <a:r>
              <a:rPr sz="660" b="0">
                <a:solidFill>
                  <a:srgbClr val="333333"/>
                </a:solidFill>
                <a:latin typeface="Menlo"/>
                <a:ea typeface="Menlo"/>
                <a:cs typeface="Menlo"/>
              </a:rPr>
              <a:t>READY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964DB4-901C-4A4C-B750-56FD35F6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673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1F6EB5-8823-4751-98F4-D2F75BE4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626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0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RecallGuard_AI_PPT_Video_Script_Somi.md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03F203-F9C7-40CF-8A1A-310D3700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4673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783E90-08F1-45AE-93B1-12ED6A91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562600"/>
            <a:ext cx="377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0" b="0">
                <a:solidFill>
                  <a:srgbClr val="333333"/>
                </a:solidFill>
                <a:latin typeface="Inter"/>
                <a:ea typeface="Inter"/>
                <a:cs typeface="Inter"/>
              </a:rPr>
              <a:t>Narration and capture guide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18F6FA-2F8B-4655-B360-0EF7266A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4673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D556C0-5A4E-404F-9C99-AE468A11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6260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3333"/>
                </a:solidFill>
                <a:latin typeface="Menlo"/>
                <a:ea typeface="Menlo"/>
                <a:cs typeface="Menlo"/>
              </a:defRPr>
            </a:pPr>
            <a:r>
              <a:rPr sz="660" b="0">
                <a:solidFill>
                  <a:srgbClr val="333333"/>
                </a:solidFill>
                <a:latin typeface="Menlo"/>
                <a:ea typeface="Menlo"/>
                <a:cs typeface="Menlo"/>
              </a:rPr>
              <a:t>READY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1E1A95-730B-4EDA-856D-16EA68CE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847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032F97-60A3-449D-A1D4-2DEFF053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847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000000"/>
                </a:solidFill>
                <a:latin typeface="Menlo"/>
                <a:ea typeface="Menlo"/>
                <a:cs typeface="Menlo"/>
              </a:rPr>
              <a:t>MICROSOFT FOUNDRY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1ACAFA-AC26-4F78-9438-D5495827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076950"/>
            <a:ext cx="1219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8F6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56B976-642F-4C6C-AD00-7EFE3448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3410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000000"/>
                </a:solidFill>
                <a:latin typeface="Menlo"/>
                <a:ea typeface="Menlo"/>
                <a:cs typeface="Menlo"/>
              </a:rPr>
              <a:t>GUARDRAILS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6E486C-469F-457B-B5FA-4EA70D86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076950"/>
            <a:ext cx="1562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13641"/>
          </a:solidFill>
          <a:ln xmlns:a="http://schemas.openxmlformats.org/drawingml/2006/main" w="9525">
            <a:solidFill>
              <a:srgbClr val="26263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099CA0-6596-488D-8D11-ECCF8636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34100"/>
            <a:ext cx="1562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ENTRA AGENT ID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AB42F3-5FD9-41B1-9DCD-8597F668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BFF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BDBBFF"/>
                </a:solidFill>
                <a:latin typeface="Menlo"/>
                <a:ea typeface="Menlo"/>
                <a:cs typeface="Menlo"/>
              </a:rPr>
              <a:t>SLIDE 10 / GOVERNED MULTI-AGENT WORKFLOW</a:t>
            </a:r>
          </a:p>
        </p:txBody>
      </p:sp>
    </p:spTree>
    <p:extLst>
      <p:ext uri="{BB962C8B-B14F-4D97-AF65-F5344CB8AC3E}">
        <p14:creationId xmlns:p14="http://schemas.microsoft.com/office/powerpoint/2010/main" val="6535570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2026-05-13T14:43:24.3510000Z</dcterms:created>
  <dcterms:modified xsi:type="dcterms:W3CDTF">2026-05-13T14:43:24.3510000Z</dcterms:modified>
</coreProperties>
</file>